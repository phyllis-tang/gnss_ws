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E02424"/>
              </a:solidFill>
            </c:spPr>
          </c:dPt>
          <c:cat>
            <c:strRef>
              <c:f>Sheet1!$A$2:$A$3</c:f>
              <c:strCache>
                <c:ptCount val="2"/>
                <c:pt idx="0">
                  <c:v>LOS</c:v>
                </c:pt>
                <c:pt idx="1">
                  <c:v>NLOS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4472</c:v>
                </c:pt>
                <c:pt idx="1">
                  <c:v>6578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300">
              <a:latin typeface="微软雅黑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ΔL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E02424"/>
              </a:solidFill>
            </c:spPr>
          </c:dPt>
          <c:cat>
            <c:strRef>
              <c:f>Sheet1!$A$2:$A$4</c:f>
              <c:strCache>
                <c:ptCount val="3"/>
                <c:pt idx="0">
                  <c:v>轻度 &lt;2m</c:v>
                </c:pt>
                <c:pt idx="1">
                  <c:v>强反射 2-10m</c:v>
                </c:pt>
                <c:pt idx="2">
                  <c:v>严重 ≥10m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402</c:v>
                </c:pt>
                <c:pt idx="1">
                  <c:v>1868</c:v>
                </c:pt>
                <c:pt idx="2">
                  <c:v>483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E02424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cat>
            <c:strRef>
              <c:f>Sheet1!$A$2:$A$4</c:f>
              <c:strCache>
                <c:ptCount val="3"/>
                <c:pt idx="0">
                  <c:v>基准
baseline</c:v>
                </c:pt>
                <c:pt idx="1">
                  <c:v>剔除
exclusion</c:v>
                </c:pt>
                <c:pt idx="2">
                  <c:v>改正
correction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26.45</c:v>
                </c:pt>
                <c:pt idx="1">
                  <c:v>99.0</c:v>
                </c:pt>
                <c:pt idx="2">
                  <c:v>39.97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2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LiDAR 射线追踪辅助 GNSS NLOS 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0">
                <a:solidFill>
                  <a:srgbClr val="C5CAE9"/>
                </a:solidFill>
                <a:latin typeface="微软雅黑"/>
                <a:ea typeface="微软雅黑"/>
              </a:rPr>
              <a:t>把 3D 点云当作“城市”，判断每颗卫星信号是直射还是被楼挡住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9FA8DA"/>
                </a:solidFill>
                <a:latin typeface="微软雅黑"/>
                <a:ea typeface="微软雅黑"/>
              </a:rPr>
              <a:t>UrbanNav HK Medium-Urban-1 · 香港西九龙 · 2021-05-17 · ~657 历元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微软雅黑"/>
                <a:ea typeface="微软雅黑"/>
              </a:rPr>
              <a:t>问题：城市峡谷里，卫星信号会被楼挡住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微软雅黑"/>
                <a:ea typeface="微软雅黑"/>
              </a:rPr>
              <a:t>•  香港高楼林立，很多卫星信号无法直达接收机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微软雅黑"/>
                <a:ea typeface="微软雅黑"/>
              </a:rPr>
              <a:t>•  信号被楼挡住后经墙面反射再到达 — 这叫 NLOS（非直射）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微软雅黑"/>
                <a:ea typeface="微软雅黑"/>
              </a:rPr>
              <a:t>•  反射让信号多走一段路 → 测距偏长 → 定位偏差可达几十米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137392" cy="461772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8640" y="5806440"/>
            <a:ext cx="11137392" cy="0"/>
          </a:xfrm>
          <a:prstGeom prst="line">
            <a:avLst/>
          </a:prstGeom>
          <a:ln w="38100">
            <a:solidFill>
              <a:srgbClr val="8D6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103120" y="2286000"/>
            <a:ext cx="1371600" cy="3520439"/>
          </a:xfrm>
          <a:prstGeom prst="rect">
            <a:avLst/>
          </a:prstGeom>
          <a:solidFill>
            <a:srgbClr val="90A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楼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783080"/>
            <a:ext cx="1554480" cy="4023359"/>
          </a:xfrm>
          <a:prstGeom prst="rect">
            <a:avLst/>
          </a:prstGeom>
          <a:solidFill>
            <a:srgbClr val="60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楼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888736" y="5495544"/>
            <a:ext cx="292608" cy="292608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578815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微软雅黑"/>
                <a:ea typeface="微软雅黑"/>
              </a:rPr>
              <a:t>接收机</a:t>
            </a:r>
          </a:p>
        </p:txBody>
      </p:sp>
      <p:sp>
        <p:nvSpPr>
          <p:cNvPr id="13" name="5-Point Star 12"/>
          <p:cNvSpPr/>
          <p:nvPr/>
        </p:nvSpPr>
        <p:spPr>
          <a:xfrm>
            <a:off x="4370831" y="1581911"/>
            <a:ext cx="585216" cy="585216"/>
          </a:xfrm>
          <a:prstGeom prst="star5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148839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</a:rPr>
              <a:t>卫星A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4663440" y="1874519"/>
            <a:ext cx="1371600" cy="3767329"/>
          </a:xfrm>
          <a:prstGeom prst="line">
            <a:avLst/>
          </a:prstGeom>
          <a:ln w="38100">
            <a:solidFill>
              <a:srgbClr val="0E9F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0" y="365760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0E9F6E"/>
                </a:solidFill>
                <a:latin typeface="微软雅黑"/>
                <a:ea typeface="微软雅黑"/>
              </a:rPr>
              <a:t>直射 LOS</a:t>
            </a:r>
          </a:p>
        </p:txBody>
      </p:sp>
      <p:sp>
        <p:nvSpPr>
          <p:cNvPr id="17" name="5-Point Star 16"/>
          <p:cNvSpPr/>
          <p:nvPr/>
        </p:nvSpPr>
        <p:spPr>
          <a:xfrm>
            <a:off x="10588752" y="1033271"/>
            <a:ext cx="585216" cy="585216"/>
          </a:xfrm>
          <a:prstGeom prst="star5">
            <a:avLst/>
          </a:prstGeom>
          <a:solidFill>
            <a:srgbClr val="E0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1600200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</a:rPr>
              <a:t>卫星B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035040" y="1325880"/>
            <a:ext cx="4846320" cy="4315968"/>
          </a:xfrm>
          <a:prstGeom prst="line">
            <a:avLst/>
          </a:prstGeom>
          <a:ln w="27940">
            <a:solidFill>
              <a:srgbClr val="E0242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9360" y="3886200"/>
            <a:ext cx="2194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E02424"/>
                </a:solidFill>
                <a:latin typeface="微软雅黑"/>
                <a:ea typeface="微软雅黑"/>
              </a:rPr>
              <a:t>✗ 被楼挡住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474720" y="1325880"/>
            <a:ext cx="7406640" cy="1737360"/>
          </a:xfrm>
          <a:prstGeom prst="line">
            <a:avLst/>
          </a:prstGeom>
          <a:ln w="3302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74720" y="3063240"/>
            <a:ext cx="2560320" cy="2578608"/>
          </a:xfrm>
          <a:prstGeom prst="line">
            <a:avLst/>
          </a:prstGeom>
          <a:ln w="3302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6160" y="4160520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微软雅黑"/>
                <a:ea typeface="微软雅黑"/>
              </a:rPr>
              <a:t>反射到达 (NLOS)
多走了 ΔL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微软雅黑"/>
                <a:ea typeface="微软雅黑"/>
              </a:rPr>
              <a:t>核心思路：用 LiDAR 地图给每颗卫星“连连看”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63238"/>
                </a:solidFill>
                <a:latin typeface="微软雅黑"/>
                <a:ea typeface="微软雅黑"/>
              </a:rPr>
              <a:t>•  LiDAR 扫描得到的 3D 点云 = 这座城市的精确模型（含每一栋楼）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63238"/>
                </a:solidFill>
                <a:latin typeface="微软雅黑"/>
                <a:ea typeface="微软雅黑"/>
              </a:rPr>
              <a:t>•  从接收机朝卫星方向画一条直线（射线）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63238"/>
                </a:solidFill>
                <a:latin typeface="微软雅黑"/>
                <a:ea typeface="微软雅黑"/>
              </a:rPr>
              <a:t>•  射线一路畅通 → LOS（直射）；中途撞到楼 → NLOS（被挡）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63238"/>
                </a:solidFill>
                <a:latin typeface="微软雅黑"/>
                <a:ea typeface="微软雅黑"/>
              </a:rPr>
              <a:t>•  纯几何判断，不需要训练数据，又快又可解释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63238"/>
                </a:solidFill>
                <a:latin typeface="微软雅黑"/>
                <a:ea typeface="微软雅黑"/>
              </a:rPr>
              <a:t>•  好处：知道哪些卫星不可信，就能在定位时区别对待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微软雅黑"/>
                <a:ea typeface="微软雅黑"/>
              </a:rPr>
              <a:t>整体流程：五步走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4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815998" cy="1737360"/>
          </a:xfrm>
          <a:prstGeom prst="roundRect">
            <a:avLst/>
          </a:prstGeom>
          <a:solidFill>
            <a:srgbClr val="F3F4FF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3F51B5"/>
                </a:solidFill>
                <a:latin typeface="微软雅黑"/>
                <a:ea typeface="微软雅黑"/>
              </a:rPr>
              <a:t>1</a:t>
            </a:r>
          </a:p>
          <a:p>
            <a:pPr algn="ctr"/>
            <a:r>
              <a:rPr sz="1250" b="1">
                <a:solidFill>
                  <a:srgbClr val="263238"/>
                </a:solidFill>
                <a:latin typeface="微软雅黑"/>
                <a:ea typeface="微软雅黑"/>
              </a:rPr>
              <a:t>LiDAR 点云地图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01798" y="3246120"/>
            <a:ext cx="365760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13278" y="2377440"/>
            <a:ext cx="1815998" cy="1737360"/>
          </a:xfrm>
          <a:prstGeom prst="roundRect">
            <a:avLst/>
          </a:prstGeom>
          <a:solidFill>
            <a:srgbClr val="F3F4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7C3AED"/>
                </a:solidFill>
                <a:latin typeface="微软雅黑"/>
                <a:ea typeface="微软雅黑"/>
              </a:rPr>
              <a:t>2</a:t>
            </a:r>
          </a:p>
          <a:p>
            <a:pPr algn="ctr"/>
            <a:r>
              <a:rPr sz="1250" b="1">
                <a:solidFill>
                  <a:srgbClr val="263238"/>
                </a:solidFill>
                <a:latin typeface="微软雅黑"/>
                <a:ea typeface="微软雅黑"/>
              </a:rPr>
              <a:t>算卫星方向
方位/仰角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74996" y="3246120"/>
            <a:ext cx="365760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86476" y="2377440"/>
            <a:ext cx="1815998" cy="1737360"/>
          </a:xfrm>
          <a:prstGeom prst="roundRect">
            <a:avLst/>
          </a:prstGeom>
          <a:solidFill>
            <a:srgbClr val="F3F4FF"/>
          </a:solidFill>
          <a:ln w="25400">
            <a:solidFill>
              <a:srgbClr val="E0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E02424"/>
                </a:solidFill>
                <a:latin typeface="微软雅黑"/>
                <a:ea typeface="微软雅黑"/>
              </a:rPr>
              <a:t>3</a:t>
            </a:r>
          </a:p>
          <a:p>
            <a:pPr algn="ctr"/>
            <a:r>
              <a:rPr sz="1250" b="1">
                <a:solidFill>
                  <a:srgbClr val="263238"/>
                </a:solidFill>
                <a:latin typeface="微软雅黑"/>
                <a:ea typeface="微软雅黑"/>
              </a:rPr>
              <a:t>射线投射
判 LOS/NLOS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8195" y="3246120"/>
            <a:ext cx="365760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9675" y="2377440"/>
            <a:ext cx="1815998" cy="1737360"/>
          </a:xfrm>
          <a:prstGeom prst="roundRect">
            <a:avLst/>
          </a:prstGeom>
          <a:solidFill>
            <a:srgbClr val="F3F4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4</a:t>
            </a:r>
          </a:p>
          <a:p>
            <a:pPr algn="ctr"/>
            <a:r>
              <a:rPr sz="1250" b="1">
                <a:solidFill>
                  <a:srgbClr val="263238"/>
                </a:solidFill>
                <a:latin typeface="微软雅黑"/>
                <a:ea typeface="微软雅黑"/>
              </a:rPr>
              <a:t>反射几何
估算 ΔL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21393" y="3246120"/>
            <a:ext cx="365760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32873" y="2377440"/>
            <a:ext cx="1815998" cy="1737360"/>
          </a:xfrm>
          <a:prstGeom prst="roundRect">
            <a:avLst/>
          </a:prstGeom>
          <a:solidFill>
            <a:srgbClr val="F3F4FF"/>
          </a:solidFill>
          <a:ln w="2540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0E9F6E"/>
                </a:solidFill>
                <a:latin typeface="微软雅黑"/>
                <a:ea typeface="微软雅黑"/>
              </a:rPr>
              <a:t>5</a:t>
            </a:r>
          </a:p>
          <a:p>
            <a:pPr algn="ctr"/>
            <a:r>
              <a:rPr sz="1250" b="1">
                <a:solidFill>
                  <a:srgbClr val="263238"/>
                </a:solidFill>
                <a:latin typeface="微软雅黑"/>
                <a:ea typeface="微软雅黑"/>
              </a:rPr>
              <a:t>送入定位
做改正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本次汇报聚焦中间三步（红/橙框）——射线追踪如何判 NLOS、如何把“多走的路”算出来。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微软雅黑"/>
                <a:ea typeface="微软雅黑"/>
              </a:rPr>
              <a:t>第一步：把点云变成“积木世界”（体素地图）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微软雅黑"/>
                <a:ea typeface="微软雅黑"/>
              </a:rPr>
              <a:t>•  体素 = 把空间切成 0.5m 的小方块；方块里有点 = 这里有建筑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微软雅黑"/>
                <a:ea typeface="微软雅黑"/>
              </a:rPr>
              <a:t>•  先过滤掉地面点（只保留接收机高度以上），避免误判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微软雅黑"/>
                <a:ea typeface="微软雅黑"/>
              </a:rPr>
              <a:t>•  这样射线只要查“方块占用没占用”，速度极快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3F51B5"/>
                </a:solidFill>
                <a:latin typeface="微软雅黑"/>
                <a:ea typeface="微软雅黑"/>
              </a:rPr>
              <a:t>8,531,577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点云总点数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4428" y="411480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7C3AED"/>
                </a:solidFill>
                <a:latin typeface="微软雅黑"/>
                <a:ea typeface="微软雅黑"/>
              </a:rPr>
              <a:t>2,860,032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过滤地面后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411480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F59E0B"/>
                </a:solidFill>
                <a:latin typeface="微软雅黑"/>
                <a:ea typeface="微软雅黑"/>
              </a:rPr>
              <a:t>0.5 m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体素大小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411480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0E9F6E"/>
                </a:solidFill>
                <a:latin typeface="微软雅黑"/>
                <a:ea typeface="微软雅黑"/>
              </a:rPr>
              <a:t>1,333,519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占用体素数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微软雅黑"/>
                <a:ea typeface="微软雅黑"/>
              </a:rPr>
              <a:t>第二步：算出每颗卫星在天上的方向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微软雅黑"/>
                <a:ea typeface="微软雅黑"/>
              </a:rPr>
              <a:t>•  逐历元、逐卫星计算方位角 + 仰角（卫星在天空哪个位置）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微软雅黑"/>
                <a:ea typeface="微软雅黑"/>
              </a:rPr>
              <a:t>•  三大星座一起用：GPS + 北斗 BeiDou + 伽利略 Galileo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微软雅黑"/>
                <a:ea typeface="微软雅黑"/>
              </a:rPr>
              <a:t>•  星座越多 → 可见卫星越多 → 几何越好 → 定位越稳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3F51B5"/>
                </a:solidFill>
                <a:latin typeface="微软雅黑"/>
                <a:ea typeface="微软雅黑"/>
              </a:rPr>
              <a:t>5.8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GPS 颗/历元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4428" y="420624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E0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E02424"/>
                </a:solidFill>
                <a:latin typeface="微软雅黑"/>
                <a:ea typeface="微软雅黑"/>
              </a:rPr>
              <a:t>6.4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北斗 颗/历元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420624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0E9F6E"/>
                </a:solidFill>
                <a:latin typeface="微软雅黑"/>
                <a:ea typeface="微软雅黑"/>
              </a:rPr>
              <a:t>3.8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伽利略 颗/历元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420624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7C3AED"/>
                </a:solidFill>
                <a:latin typeface="微软雅黑"/>
                <a:ea typeface="微软雅黑"/>
              </a:rPr>
              <a:t>15.9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平均总数/历元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微软雅黑"/>
                <a:ea typeface="微软雅黑"/>
              </a:rPr>
              <a:t>第三步：发射射线，逐格检查有没有撞楼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3238"/>
                </a:solidFill>
                <a:latin typeface="微软雅黑"/>
                <a:ea typeface="微软雅黑"/>
              </a:rPr>
              <a:t>•  沿卫星方向每 0.5m 前进一步，查这个小方块是不是建筑；80m 内撞到 → NLOS，否则 LOS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137392" cy="448056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8640" y="5715000"/>
            <a:ext cx="11137392" cy="0"/>
          </a:xfrm>
          <a:prstGeom prst="line">
            <a:avLst/>
          </a:prstGeom>
          <a:ln w="38100">
            <a:solidFill>
              <a:srgbClr val="8D6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778240" y="1920240"/>
            <a:ext cx="1737360" cy="3794760"/>
          </a:xfrm>
          <a:prstGeom prst="rect">
            <a:avLst/>
          </a:prstGeom>
          <a:solidFill>
            <a:srgbClr val="60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楼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1408176" y="5404104"/>
            <a:ext cx="292608" cy="292608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569671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微软雅黑"/>
                <a:ea typeface="微软雅黑"/>
              </a:rPr>
              <a:t>接收机</a:t>
            </a:r>
          </a:p>
        </p:txBody>
      </p:sp>
      <p:sp>
        <p:nvSpPr>
          <p:cNvPr id="12" name="5-Point Star 11"/>
          <p:cNvSpPr/>
          <p:nvPr/>
        </p:nvSpPr>
        <p:spPr>
          <a:xfrm>
            <a:off x="10698480" y="1143000"/>
            <a:ext cx="548640" cy="548640"/>
          </a:xfrm>
          <a:prstGeom prst="star5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67335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</a:rPr>
              <a:t>卫星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554480" y="1417320"/>
            <a:ext cx="9418320" cy="4133088"/>
          </a:xfrm>
          <a:prstGeom prst="line">
            <a:avLst/>
          </a:prstGeom>
          <a:ln w="19050">
            <a:solidFill>
              <a:srgbClr val="CFD8D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058310" y="5210899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77450" y="4983082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96591" y="4755265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15731" y="4527448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34872" y="4299631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4012" y="4071814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73152" y="3843997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92293" y="3616180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1433" y="3388363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30574" y="3160546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49714" y="2932729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68855" y="2704912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87995" y="2477095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07135" y="2249278"/>
            <a:ext cx="164592" cy="164592"/>
          </a:xfrm>
          <a:prstGeom prst="rect">
            <a:avLst/>
          </a:prstGeom>
          <a:solidFill>
            <a:srgbClr val="E0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7831" y="1462894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02424"/>
                </a:solidFill>
                <a:latin typeface="微软雅黑"/>
                <a:ea typeface="微软雅黑"/>
              </a:rPr>
              <a:t>✗ 撞到楼 → NLOS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937760"/>
            <a:ext cx="5943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  <a:latin typeface="微软雅黑"/>
                <a:ea typeface="微软雅黑"/>
              </a:rPr>
              <a:t>每 0.5m 前进一步，逐个小方块检查有没有建筑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440680"/>
            <a:ext cx="37490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0E9F6E"/>
                </a:solidFill>
                <a:latin typeface="微软雅黑"/>
                <a:ea typeface="微软雅黑"/>
              </a:rPr>
              <a:t>处理速度 14,773 条/秒（全程约 1 秒）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微软雅黑"/>
                <a:ea typeface="微软雅黑"/>
              </a:rPr>
              <a:t>结果：超过一半卫星是 NLOS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8 / 13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55448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63238"/>
                </a:solidFill>
                <a:latin typeface="微软雅黑"/>
                <a:ea typeface="微软雅黑"/>
              </a:rPr>
              <a:t>•  总计 11,050 条卫星×历元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63238"/>
                </a:solidFill>
                <a:latin typeface="微软雅黑"/>
                <a:ea typeface="微软雅黑"/>
              </a:rPr>
              <a:t>•  NLOS 6,578 条 = 59.5%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63238"/>
                </a:solidFill>
                <a:latin typeface="微软雅黑"/>
                <a:ea typeface="微软雅黑"/>
              </a:rPr>
              <a:t>•  平均每历元 15.9 颗可见，约 9.5 颗被挡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63238"/>
                </a:solidFill>
                <a:latin typeface="微软雅黑"/>
                <a:ea typeface="微软雅黑"/>
              </a:rPr>
              <a:t>•  直接用全部伪距定位，必然受严重多径污染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微软雅黑"/>
                <a:ea typeface="微软雅黑"/>
              </a:rPr>
              <a:t>进阶：不止一次反射 — 二次反射建模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3238"/>
                </a:solidFill>
                <a:latin typeface="微软雅黑"/>
                <a:ea typeface="微软雅黑"/>
              </a:rPr>
              <a:t>•  射线撞墙后，用周围点云算出墙面朝向（法向量，PCA），再沿镜面反射方向继续追踪第二面墙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137392" cy="45262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8640" y="5760720"/>
            <a:ext cx="11137392" cy="0"/>
          </a:xfrm>
          <a:prstGeom prst="line">
            <a:avLst/>
          </a:prstGeom>
          <a:ln w="38100">
            <a:solidFill>
              <a:srgbClr val="8D6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645920" y="1828800"/>
            <a:ext cx="1371600" cy="3931920"/>
          </a:xfrm>
          <a:prstGeom prst="rect">
            <a:avLst/>
          </a:prstGeom>
          <a:solidFill>
            <a:srgbClr val="90A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楼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828800"/>
            <a:ext cx="1371600" cy="3931920"/>
          </a:xfrm>
          <a:prstGeom prst="rect">
            <a:avLst/>
          </a:prstGeom>
          <a:solidFill>
            <a:srgbClr val="60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楼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934456" y="5449824"/>
            <a:ext cx="292608" cy="292608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574243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微软雅黑"/>
                <a:ea typeface="微软雅黑"/>
              </a:rPr>
              <a:t>接收机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80760" y="3383280"/>
            <a:ext cx="3063240" cy="2212848"/>
          </a:xfrm>
          <a:prstGeom prst="line">
            <a:avLst/>
          </a:prstGeom>
          <a:ln w="3556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017520" y="2697480"/>
            <a:ext cx="6126480" cy="685800"/>
          </a:xfrm>
          <a:prstGeom prst="line">
            <a:avLst/>
          </a:prstGeom>
          <a:ln w="3556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5-Point Star 14"/>
          <p:cNvSpPr/>
          <p:nvPr/>
        </p:nvSpPr>
        <p:spPr>
          <a:xfrm>
            <a:off x="1133856" y="1362456"/>
            <a:ext cx="475488" cy="475488"/>
          </a:xfrm>
          <a:prstGeom prst="star5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19655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</a:rPr>
              <a:t>卫星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1554480" y="1783080"/>
            <a:ext cx="1463040" cy="914400"/>
          </a:xfrm>
          <a:prstGeom prst="line">
            <a:avLst/>
          </a:prstGeom>
          <a:ln w="19050">
            <a:solidFill>
              <a:srgbClr val="CFD8D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0" y="4297680"/>
            <a:ext cx="2103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E02424"/>
                </a:solidFill>
                <a:latin typeface="微软雅黑"/>
                <a:ea typeface="微软雅黑"/>
              </a:rPr>
              <a:t>d1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468880"/>
            <a:ext cx="2103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E02424"/>
                </a:solidFill>
                <a:latin typeface="微软雅黑"/>
                <a:ea typeface="微软雅黑"/>
              </a:rPr>
              <a:t>d2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8503920" y="3246120"/>
            <a:ext cx="640080" cy="13716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17520" y="2697480"/>
            <a:ext cx="640080" cy="9144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4892040"/>
            <a:ext cx="8686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F51B5"/>
                </a:solidFill>
                <a:latin typeface="微软雅黑"/>
                <a:ea typeface="微软雅黑"/>
              </a:rPr>
              <a:t>信号拐两次弯：撞墙1 (d1) → 反射 → 撞墙2 (d2) → 到接收机，总额外路径 ≈ d1 + d2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微软雅黑"/>
                <a:ea typeface="微软雅黑"/>
              </a:rPr>
              <a:t>把“多走的路”算出来：反射几何 ΔL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10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937760" cy="914400"/>
          </a:xfrm>
          <a:prstGeom prst="roundRect">
            <a:avLst/>
          </a:prstGeom>
          <a:solidFill>
            <a:srgbClr val="F8F9FF"/>
          </a:solidFill>
          <a:ln w="1905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1A237E"/>
                </a:solidFill>
                <a:latin typeface="微软雅黑"/>
                <a:ea typeface="微软雅黑"/>
              </a:rPr>
              <a:t>ΔL = 2 · d · cos 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80160"/>
            <a:ext cx="5669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d = 撞墙距离，θ = 入射角（由法向量算出）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ΔL = 信号比直线多走的距离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2555748" cy="86868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3F51B5"/>
                </a:solidFill>
                <a:latin typeface="微软雅黑"/>
                <a:ea typeface="微软雅黑"/>
              </a:rPr>
              <a:t>2,753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成功建模 NLOS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4428" y="2514600"/>
            <a:ext cx="2555748" cy="86868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F59E0B"/>
                </a:solidFill>
                <a:latin typeface="微软雅黑"/>
                <a:ea typeface="微软雅黑"/>
              </a:rPr>
              <a:t>6.70 m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ΔL 均值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514600"/>
            <a:ext cx="2555748" cy="86868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0E9F6E"/>
                </a:solidFill>
                <a:latin typeface="微软雅黑"/>
                <a:ea typeface="微软雅黑"/>
              </a:rPr>
              <a:t>6.45 m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ΔL 中位数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3124" y="2514600"/>
            <a:ext cx="2555748" cy="86868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7C3AED"/>
                </a:solidFill>
                <a:latin typeface="微软雅黑"/>
                <a:ea typeface="微软雅黑"/>
              </a:rPr>
              <a:t>54.6°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平均入射角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1097280" y="3657600"/>
          <a:ext cx="64008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80960" y="3840480"/>
            <a:ext cx="393192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多径严重程度分布：
大多数 NLOS 属“强反射”
（高楼幕墙），均值约 6.7m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微软雅黑"/>
                <a:ea typeface="微软雅黑"/>
              </a:rPr>
              <a:t>这有什么用：把 ΔL 还给定位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3238"/>
                </a:solidFill>
                <a:latin typeface="微软雅黑"/>
                <a:ea typeface="微软雅黑"/>
              </a:rPr>
              <a:t>•  NLOS 卫星的伪距减去 ΔL → 修正多径误差；不可靠的还可降权或剔除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3238"/>
                </a:solidFill>
                <a:latin typeface="微软雅黑"/>
                <a:ea typeface="微软雅黑"/>
              </a:rPr>
              <a:t>•  三种定位模式对比（水平均值误差）：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97280" y="2743200"/>
          <a:ext cx="65836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55279" y="2834640"/>
            <a:ext cx="3657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剔除全部 NLOS → 卫星不够用，反而更差（99m）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改正目前 39.97m，仍未超过 baseline 26.45m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为什么？见下一页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微软雅黑"/>
                <a:ea typeface="微软雅黑"/>
              </a:rPr>
              <a:t>目前的局限 &amp; 下一步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12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4924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0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E02424"/>
                </a:solidFill>
                <a:latin typeface="微软雅黑"/>
                <a:ea typeface="微软雅黑"/>
              </a:rPr>
              <a:t>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建模覆盖率仅 42%（3,825 条 NLOS 因时间戳没对上被跳过）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41% 的反射面是墙角/曲面，法向量不可靠，ΔL 偏差 5–15m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改正太“一刀切”，没按置信度加权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4924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0E9F6E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修复时间戳/闰秒对齐 → 建模覆盖率 42% → &gt;85%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按法向量置信度做“软改正”，平面性低就少改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加入故障检测剔除（FDE / RAIM），去掉漏判的大误差卫星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微软雅黑"/>
                <a:ea typeface="微软雅黑"/>
              </a:rPr>
              <a:t>•  目标：correction RMS 降到 20–25m 以下，真正超过 baseline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一页总结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08760"/>
            <a:ext cx="10515600" cy="0"/>
          </a:xfrm>
          <a:prstGeom prst="line">
            <a:avLst/>
          </a:prstGeom>
          <a:ln w="19050">
            <a:solidFill>
              <a:srgbClr val="5C6B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82880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•  跑通端到端射线追踪流水线：LiDAR 地图 → 卫星方向 → LOS/NLOS → 反射 ΔL → 定位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•  量化香港城市峡谷 NLOS 比例：59.5%（11,050 条中 6,578 条）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•  几何建模反射多径：ΔL 均值 6.7m，纯几何、可解释、14,773 条/秒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•  多星座 baseline 已达 26.45m，城市峡谷里属较好水平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•  下一步把改正做出正收益（提覆盖率 + 置信度加权 + FDE）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