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E02424"/>
              </a:solidFill>
            </c:spPr>
          </c:dPt>
          <c:cat>
            <c:strRef>
              <c:f>Sheet1!$A$2:$A$3</c:f>
              <c:strCache>
                <c:ptCount val="2"/>
                <c:pt idx="0">
                  <c:v>LOS</c:v>
                </c:pt>
                <c:pt idx="1">
                  <c:v>NLOS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4472</c:v>
                </c:pt>
                <c:pt idx="1">
                  <c:v>6578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300">
              <a:latin typeface="Calibr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ΔL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E02424"/>
              </a:solidFill>
            </c:spPr>
          </c:dPt>
          <c:cat>
            <c:strRef>
              <c:f>Sheet1!$A$2:$A$4</c:f>
              <c:strCache>
                <c:ptCount val="3"/>
                <c:pt idx="0">
                  <c:v>Mild &lt;2m</c:v>
                </c:pt>
                <c:pt idx="1">
                  <c:v>Strong 2-10m</c:v>
                </c:pt>
                <c:pt idx="2">
                  <c:v>Severe ≥10m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402</c:v>
                </c:pt>
                <c:pt idx="1">
                  <c:v>1868</c:v>
                </c:pt>
                <c:pt idx="2">
                  <c:v>483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E02424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Exclusion</c:v>
                </c:pt>
                <c:pt idx="2">
                  <c:v>Correction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26.45</c:v>
                </c:pt>
                <c:pt idx="1">
                  <c:v>99.0</c:v>
                </c:pt>
                <c:pt idx="2">
                  <c:v>39.97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 b="1"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1219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LiDAR Ray Tracing for GNSS NLOS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900" b="0">
                <a:solidFill>
                  <a:srgbClr val="C5CAE9"/>
                </a:solidFill>
                <a:latin typeface="Calibri"/>
              </a:rPr>
              <a:t>Use the 3D point cloud as the “city” to tell whether each satellite signal is direct or blocked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44068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9FA8DA"/>
                </a:solidFill>
                <a:latin typeface="Calibri"/>
              </a:rPr>
              <a:t>UrbanNav HK Medium-Urban-1 · West Kowloon, Hong Kong · 2021-05-17 · ~657 epochs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Calibri"/>
              </a:rPr>
              <a:t>The problem: in urban canyons, buildings block satellite signals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Calibri"/>
              </a:rPr>
              <a:t>•  In dense high-rise areas, many satellite signals cannot reach the receiver directly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Calibri"/>
              </a:rPr>
              <a:t>•  A blocked signal arrives only after reflecting off a wall — this is called NLOS (non-line-of-sight)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Calibri"/>
              </a:rPr>
              <a:t>•  Reflection adds extra travel distance → pseudorange too long → positioning error of tens of metres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1137392" cy="461772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48640" y="5806440"/>
            <a:ext cx="11137392" cy="0"/>
          </a:xfrm>
          <a:prstGeom prst="line">
            <a:avLst/>
          </a:prstGeom>
          <a:ln w="38100">
            <a:solidFill>
              <a:srgbClr val="8D6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103120" y="2286000"/>
            <a:ext cx="1371600" cy="3520439"/>
          </a:xfrm>
          <a:prstGeom prst="rect">
            <a:avLst/>
          </a:prstGeom>
          <a:solidFill>
            <a:srgbClr val="90A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Building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783080"/>
            <a:ext cx="1554480" cy="4023359"/>
          </a:xfrm>
          <a:prstGeom prst="rect">
            <a:avLst/>
          </a:prstGeom>
          <a:solidFill>
            <a:srgbClr val="60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Building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888736" y="5495544"/>
            <a:ext cx="292608" cy="292608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79" y="578815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Calibri"/>
              </a:rPr>
              <a:t>Receiver</a:t>
            </a:r>
          </a:p>
        </p:txBody>
      </p:sp>
      <p:sp>
        <p:nvSpPr>
          <p:cNvPr id="13" name="5-Point Star 12"/>
          <p:cNvSpPr/>
          <p:nvPr/>
        </p:nvSpPr>
        <p:spPr>
          <a:xfrm>
            <a:off x="4370831" y="1581911"/>
            <a:ext cx="585216" cy="585216"/>
          </a:xfrm>
          <a:prstGeom prst="star5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2148839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263238"/>
                </a:solidFill>
                <a:latin typeface="Calibri"/>
              </a:rPr>
              <a:t>Sat A</a:t>
            </a:r>
          </a:p>
        </p:txBody>
      </p:sp>
      <p:cxnSp>
        <p:nvCxnSpPr>
          <p:cNvPr id="15" name="Connector 14"/>
          <p:cNvCxnSpPr/>
          <p:nvPr/>
        </p:nvCxnSpPr>
        <p:spPr>
          <a:xfrm flipH="1" flipV="1">
            <a:off x="4663440" y="1874519"/>
            <a:ext cx="1371600" cy="3767329"/>
          </a:xfrm>
          <a:prstGeom prst="line">
            <a:avLst/>
          </a:prstGeom>
          <a:ln w="38100">
            <a:solidFill>
              <a:srgbClr val="0E9F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0" y="3657600"/>
            <a:ext cx="1920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0E9F6E"/>
                </a:solidFill>
                <a:latin typeface="Calibri"/>
              </a:rPr>
              <a:t>Direct (LOS)</a:t>
            </a:r>
          </a:p>
        </p:txBody>
      </p:sp>
      <p:sp>
        <p:nvSpPr>
          <p:cNvPr id="17" name="5-Point Star 16"/>
          <p:cNvSpPr/>
          <p:nvPr/>
        </p:nvSpPr>
        <p:spPr>
          <a:xfrm>
            <a:off x="10588752" y="1033271"/>
            <a:ext cx="585216" cy="585216"/>
          </a:xfrm>
          <a:prstGeom prst="star5">
            <a:avLst/>
          </a:prstGeom>
          <a:solidFill>
            <a:srgbClr val="E0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1600200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263238"/>
                </a:solidFill>
                <a:latin typeface="Calibri"/>
              </a:rPr>
              <a:t>Sat B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035040" y="1325880"/>
            <a:ext cx="4846320" cy="4315968"/>
          </a:xfrm>
          <a:prstGeom prst="line">
            <a:avLst/>
          </a:prstGeom>
          <a:ln w="27940">
            <a:solidFill>
              <a:srgbClr val="E0242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9360" y="3886200"/>
            <a:ext cx="21945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200" b="1">
                <a:solidFill>
                  <a:srgbClr val="E02424"/>
                </a:solidFill>
                <a:latin typeface="Calibri"/>
              </a:rPr>
              <a:t>✗ blocked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3474720" y="1325880"/>
            <a:ext cx="7406640" cy="1737360"/>
          </a:xfrm>
          <a:prstGeom prst="line">
            <a:avLst/>
          </a:prstGeom>
          <a:ln w="3302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474720" y="3063240"/>
            <a:ext cx="2560320" cy="2578608"/>
          </a:xfrm>
          <a:prstGeom prst="line">
            <a:avLst/>
          </a:prstGeom>
          <a:ln w="3302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66160" y="4160520"/>
            <a:ext cx="27432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Calibri"/>
              </a:rPr>
              <a:t>reflected (NLOS)
extra path ΔL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Calibri"/>
              </a:rPr>
              <a:t>Core idea: ray-trace each satellite through a LiDAR map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3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0">
                <a:solidFill>
                  <a:srgbClr val="263238"/>
                </a:solidFill>
                <a:latin typeface="Calibri"/>
              </a:rPr>
              <a:t>•  The 3D point cloud from LiDAR is a precise model of the city (every building included)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0">
                <a:solidFill>
                  <a:srgbClr val="263238"/>
                </a:solidFill>
                <a:latin typeface="Calibri"/>
              </a:rPr>
              <a:t>•  From the receiver, draw a straight line (a ray) toward each satellite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0">
                <a:solidFill>
                  <a:srgbClr val="263238"/>
                </a:solidFill>
                <a:latin typeface="Calibri"/>
              </a:rPr>
              <a:t>•  Ray reaches the sky unobstructed → LOS (direct);  ray hits a building → NLOS (blocked)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0">
                <a:solidFill>
                  <a:srgbClr val="263238"/>
                </a:solidFill>
                <a:latin typeface="Calibri"/>
              </a:rPr>
              <a:t>•  Pure geometry — no training data needed, fast and fully explainable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0">
                <a:solidFill>
                  <a:srgbClr val="263238"/>
                </a:solidFill>
                <a:latin typeface="Calibri"/>
              </a:rPr>
              <a:t>•  Payoff: knowing which satellites are unreliable lets us treat them differently when positioning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Calibri"/>
              </a:rPr>
              <a:t>The full pipeline: five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1815998" cy="1737360"/>
          </a:xfrm>
          <a:prstGeom prst="roundRect">
            <a:avLst/>
          </a:prstGeom>
          <a:solidFill>
            <a:srgbClr val="F3F4FF"/>
          </a:solidFill>
          <a:ln w="2540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3F51B5"/>
                </a:solidFill>
                <a:latin typeface="Calibri"/>
              </a:rPr>
              <a:t>1</a:t>
            </a:r>
          </a:p>
          <a:p>
            <a:pPr algn="ctr"/>
            <a:r>
              <a:rPr sz="1250" b="1">
                <a:solidFill>
                  <a:srgbClr val="263238"/>
                </a:solidFill>
                <a:latin typeface="Calibri"/>
              </a:rPr>
              <a:t>LiDAR point-cloud map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01798" y="3246120"/>
            <a:ext cx="365760" cy="0"/>
          </a:xfrm>
          <a:prstGeom prst="line">
            <a:avLst/>
          </a:prstGeom>
          <a:ln w="31750">
            <a:solidFill>
              <a:srgbClr val="9AA0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13278" y="2377440"/>
            <a:ext cx="1815998" cy="1737360"/>
          </a:xfrm>
          <a:prstGeom prst="roundRect">
            <a:avLst/>
          </a:prstGeom>
          <a:solidFill>
            <a:srgbClr val="F3F4FF"/>
          </a:solidFill>
          <a:ln w="254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7C3AED"/>
                </a:solidFill>
                <a:latin typeface="Calibri"/>
              </a:rPr>
              <a:t>2</a:t>
            </a:r>
          </a:p>
          <a:p>
            <a:pPr algn="ctr"/>
            <a:r>
              <a:rPr sz="1250" b="1">
                <a:solidFill>
                  <a:srgbClr val="263238"/>
                </a:solidFill>
                <a:latin typeface="Calibri"/>
              </a:rPr>
              <a:t>Satellite directions
(az / el)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774996" y="3246120"/>
            <a:ext cx="365760" cy="0"/>
          </a:xfrm>
          <a:prstGeom prst="line">
            <a:avLst/>
          </a:prstGeom>
          <a:ln w="31750">
            <a:solidFill>
              <a:srgbClr val="9AA0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86476" y="2377440"/>
            <a:ext cx="1815998" cy="1737360"/>
          </a:xfrm>
          <a:prstGeom prst="roundRect">
            <a:avLst/>
          </a:prstGeom>
          <a:solidFill>
            <a:srgbClr val="F3F4FF"/>
          </a:solidFill>
          <a:ln w="25400">
            <a:solidFill>
              <a:srgbClr val="E0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E02424"/>
                </a:solidFill>
                <a:latin typeface="Calibri"/>
              </a:rPr>
              <a:t>3</a:t>
            </a:r>
          </a:p>
          <a:p>
            <a:pPr algn="ctr"/>
            <a:r>
              <a:rPr sz="1250" b="1">
                <a:solidFill>
                  <a:srgbClr val="263238"/>
                </a:solidFill>
                <a:latin typeface="Calibri"/>
              </a:rPr>
              <a:t>Ray casting
LOS / NLOS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8195" y="3246120"/>
            <a:ext cx="365760" cy="0"/>
          </a:xfrm>
          <a:prstGeom prst="line">
            <a:avLst/>
          </a:prstGeom>
          <a:ln w="31750">
            <a:solidFill>
              <a:srgbClr val="9AA0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59675" y="2377440"/>
            <a:ext cx="1815998" cy="1737360"/>
          </a:xfrm>
          <a:prstGeom prst="roundRect">
            <a:avLst/>
          </a:prstGeom>
          <a:solidFill>
            <a:srgbClr val="F3F4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F59E0B"/>
                </a:solidFill>
                <a:latin typeface="Calibri"/>
              </a:rPr>
              <a:t>4</a:t>
            </a:r>
          </a:p>
          <a:p>
            <a:pPr algn="ctr"/>
            <a:r>
              <a:rPr sz="1250" b="1">
                <a:solidFill>
                  <a:srgbClr val="263238"/>
                </a:solidFill>
                <a:latin typeface="Calibri"/>
              </a:rPr>
              <a:t>Reflection geometry
estimate ΔL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21393" y="3246120"/>
            <a:ext cx="365760" cy="0"/>
          </a:xfrm>
          <a:prstGeom prst="line">
            <a:avLst/>
          </a:prstGeom>
          <a:ln w="31750">
            <a:solidFill>
              <a:srgbClr val="9AA0A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32873" y="2377440"/>
            <a:ext cx="1815998" cy="1737360"/>
          </a:xfrm>
          <a:prstGeom prst="roundRect">
            <a:avLst/>
          </a:prstGeom>
          <a:solidFill>
            <a:srgbClr val="F3F4FF"/>
          </a:solidFill>
          <a:ln w="2540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800" b="1">
                <a:solidFill>
                  <a:srgbClr val="0E9F6E"/>
                </a:solidFill>
                <a:latin typeface="Calibri"/>
              </a:rPr>
              <a:t>5</a:t>
            </a:r>
          </a:p>
          <a:p>
            <a:pPr algn="ctr"/>
            <a:r>
              <a:rPr sz="1250" b="1">
                <a:solidFill>
                  <a:srgbClr val="263238"/>
                </a:solidFill>
                <a:latin typeface="Calibri"/>
              </a:rPr>
              <a:t>Feed into
positioning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Calibri"/>
              </a:rPr>
              <a:t>This talk focuses on the middle three steps (red/orange): how ray tracing finds NLOS and estimates the extra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Calibri"/>
              </a:rPr>
              <a:t>Step 1: turn the point cloud into a voxel world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Calibri"/>
              </a:rPr>
              <a:t>•  A voxel = a 0.5 m cube of space; a cube containing points = a building is there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Calibri"/>
              </a:rPr>
              <a:t>•  Ground points are filtered out (keep only what is above the receiver) to avoid false hits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Calibri"/>
              </a:rPr>
              <a:t>•  The ray only needs to ask “is this cube occupied?”, which is extremely fast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3F51B5"/>
                </a:solidFill>
                <a:latin typeface="Calibri"/>
              </a:rPr>
              <a:t>8,531,577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total cloud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4428" y="411480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7C3AED"/>
                </a:solidFill>
                <a:latin typeface="Calibri"/>
              </a:rPr>
              <a:t>2,860,032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after ground filter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411480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F59E0B"/>
                </a:solidFill>
                <a:latin typeface="Calibri"/>
              </a:rPr>
              <a:t>0.5 m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voxel size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411480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0E9F6E"/>
                </a:solidFill>
                <a:latin typeface="Calibri"/>
              </a:rPr>
              <a:t>1,333,519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occupied voxels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Calibri"/>
              </a:rPr>
              <a:t>Step 2: compute where each satellite is in the sky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6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Calibri"/>
              </a:rPr>
              <a:t>•  For every epoch and satellite, compute azimuth + elevation (its position in the sky)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Calibri"/>
              </a:rPr>
              <a:t>•  Three constellations together: GPS + BeiDou + Galileo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600" b="0">
                <a:solidFill>
                  <a:srgbClr val="263238"/>
                </a:solidFill>
                <a:latin typeface="Calibri"/>
              </a:rPr>
              <a:t>•  More constellations → more visible satellites → better geometry → more robust positioning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3F51B5"/>
                </a:solidFill>
                <a:latin typeface="Calibri"/>
              </a:rPr>
              <a:t>5.8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GPS sats/epoch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4428" y="420624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E0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E02424"/>
                </a:solidFill>
                <a:latin typeface="Calibri"/>
              </a:rPr>
              <a:t>6.4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BeiDou sats/epoch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08776" y="420624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0E9F6E"/>
                </a:solidFill>
                <a:latin typeface="Calibri"/>
              </a:rPr>
              <a:t>3.8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Galileo sats/epoch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93124" y="4206240"/>
            <a:ext cx="2555748" cy="96012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7C3AED"/>
                </a:solidFill>
                <a:latin typeface="Calibri"/>
              </a:rPr>
              <a:t>15.9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avg total/epoch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Calibri"/>
              </a:rPr>
              <a:t>Step 3: cast the ray and check voxel by voxel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3238"/>
                </a:solidFill>
                <a:latin typeface="Calibri"/>
              </a:rPr>
              <a:t>•  Step 0.5 m along the satellite direction, test each cube; a hit within 80 m → NLOS, otherwise LOS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137392" cy="448056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48640" y="5715000"/>
            <a:ext cx="11137392" cy="0"/>
          </a:xfrm>
          <a:prstGeom prst="line">
            <a:avLst/>
          </a:prstGeom>
          <a:ln w="38100">
            <a:solidFill>
              <a:srgbClr val="8D6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778240" y="1920240"/>
            <a:ext cx="1737360" cy="3794760"/>
          </a:xfrm>
          <a:prstGeom prst="rect">
            <a:avLst/>
          </a:prstGeom>
          <a:solidFill>
            <a:srgbClr val="60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Building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1408176" y="5404104"/>
            <a:ext cx="292608" cy="292608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569671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Calibri"/>
              </a:rPr>
              <a:t>Receiver</a:t>
            </a:r>
          </a:p>
        </p:txBody>
      </p:sp>
      <p:sp>
        <p:nvSpPr>
          <p:cNvPr id="12" name="5-Point Star 11"/>
          <p:cNvSpPr/>
          <p:nvPr/>
        </p:nvSpPr>
        <p:spPr>
          <a:xfrm>
            <a:off x="10698480" y="1143000"/>
            <a:ext cx="548640" cy="548640"/>
          </a:xfrm>
          <a:prstGeom prst="star5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673352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263238"/>
                </a:solidFill>
                <a:latin typeface="Calibri"/>
              </a:rPr>
              <a:t>Satellite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554480" y="1417320"/>
            <a:ext cx="9418320" cy="4133088"/>
          </a:xfrm>
          <a:prstGeom prst="line">
            <a:avLst/>
          </a:prstGeom>
          <a:ln w="19050">
            <a:solidFill>
              <a:srgbClr val="CFD8D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058310" y="5210899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77450" y="4983082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96591" y="4755265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15731" y="4527448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34872" y="4299631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54012" y="4071814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73152" y="3843997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92293" y="3616180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1433" y="3388363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30574" y="3160546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49714" y="2932729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68855" y="2704912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87995" y="2477095"/>
            <a:ext cx="164592" cy="164592"/>
          </a:xfrm>
          <a:prstGeom prst="rect">
            <a:avLst/>
          </a:prstGeom>
          <a:solidFill>
            <a:srgbClr val="0E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07135" y="2249278"/>
            <a:ext cx="164592" cy="164592"/>
          </a:xfrm>
          <a:prstGeom prst="rect">
            <a:avLst/>
          </a:prstGeom>
          <a:solidFill>
            <a:srgbClr val="E024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7831" y="1462894"/>
            <a:ext cx="27432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E02424"/>
                </a:solidFill>
                <a:latin typeface="Calibri"/>
              </a:rPr>
              <a:t>✗ hits building → NLOS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4937760"/>
            <a:ext cx="5943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3F51B5"/>
                </a:solidFill>
                <a:latin typeface="Calibri"/>
              </a:rPr>
              <a:t>Step 0.5 m at a time, check each voxel for a building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440680"/>
            <a:ext cx="3749039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300" b="1">
                <a:solidFill>
                  <a:srgbClr val="0E9F6E"/>
                </a:solidFill>
                <a:latin typeface="Calibri"/>
              </a:rPr>
              <a:t>Throughput: 14,773 rays/s (~1 s total)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Calibri"/>
              </a:rPr>
              <a:t>Result: more than half of all satellites are NLOS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 / 13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554480"/>
          <a:ext cx="548640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2011680"/>
            <a:ext cx="5029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63238"/>
                </a:solidFill>
                <a:latin typeface="Calibri"/>
              </a:rPr>
              <a:t>•  Total 11,050 satellite×epoch records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63238"/>
                </a:solidFill>
                <a:latin typeface="Calibri"/>
              </a:rPr>
              <a:t>•  NLOS: 6,578 = 59.5%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63238"/>
                </a:solidFill>
                <a:latin typeface="Calibri"/>
              </a:rPr>
              <a:t>•  ~9.5 of the 15.9 visible satellites per epoch are blocked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63238"/>
                </a:solidFill>
                <a:latin typeface="Calibri"/>
              </a:rPr>
              <a:t>•  Using all pseudoranges blindly is bound to suffer heavy multipath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Calibri"/>
              </a:rPr>
              <a:t>Going further: modelling double reflections (2-bounce)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9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3238"/>
                </a:solidFill>
                <a:latin typeface="Calibri"/>
              </a:rPr>
              <a:t>•  After a hit, estimate the wall orientation (normal via PCA) and trace on along the mirror-reflection direction to a second wall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11137392" cy="452628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48640" y="5760720"/>
            <a:ext cx="11137392" cy="0"/>
          </a:xfrm>
          <a:prstGeom prst="line">
            <a:avLst/>
          </a:prstGeom>
          <a:ln w="38100">
            <a:solidFill>
              <a:srgbClr val="8D6E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645920" y="1828800"/>
            <a:ext cx="1371600" cy="3931920"/>
          </a:xfrm>
          <a:prstGeom prst="rect">
            <a:avLst/>
          </a:prstGeom>
          <a:solidFill>
            <a:srgbClr val="90A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Building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1828800"/>
            <a:ext cx="1371600" cy="3931920"/>
          </a:xfrm>
          <a:prstGeom prst="rect">
            <a:avLst/>
          </a:prstGeom>
          <a:solidFill>
            <a:srgbClr val="607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Building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934456" y="5449824"/>
            <a:ext cx="292608" cy="292608"/>
          </a:xfrm>
          <a:prstGeom prst="triangl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5742432"/>
            <a:ext cx="164592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Calibri"/>
              </a:rPr>
              <a:t>Receiver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6080760" y="3383280"/>
            <a:ext cx="3063240" cy="2212848"/>
          </a:xfrm>
          <a:prstGeom prst="line">
            <a:avLst/>
          </a:prstGeom>
          <a:ln w="3556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3017520" y="2697480"/>
            <a:ext cx="6126480" cy="685800"/>
          </a:xfrm>
          <a:prstGeom prst="line">
            <a:avLst/>
          </a:prstGeom>
          <a:ln w="35560">
            <a:solidFill>
              <a:srgbClr val="F59E0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5-Point Star 14"/>
          <p:cNvSpPr/>
          <p:nvPr/>
        </p:nvSpPr>
        <p:spPr>
          <a:xfrm>
            <a:off x="1133856" y="1362456"/>
            <a:ext cx="475488" cy="475488"/>
          </a:xfrm>
          <a:prstGeom prst="star5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19655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100" b="1">
                <a:solidFill>
                  <a:srgbClr val="263238"/>
                </a:solidFill>
                <a:latin typeface="Calibri"/>
              </a:rPr>
              <a:t>Satellite</a:t>
            </a:r>
          </a:p>
        </p:txBody>
      </p:sp>
      <p:cxnSp>
        <p:nvCxnSpPr>
          <p:cNvPr id="17" name="Connector 16"/>
          <p:cNvCxnSpPr/>
          <p:nvPr/>
        </p:nvCxnSpPr>
        <p:spPr>
          <a:xfrm flipH="1" flipV="1">
            <a:off x="1554480" y="1783080"/>
            <a:ext cx="1463040" cy="914400"/>
          </a:xfrm>
          <a:prstGeom prst="line">
            <a:avLst/>
          </a:prstGeom>
          <a:ln w="19050">
            <a:solidFill>
              <a:srgbClr val="CFD8DC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0" y="4297680"/>
            <a:ext cx="2103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E02424"/>
                </a:solidFill>
                <a:latin typeface="Calibri"/>
              </a:rPr>
              <a:t>d1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468880"/>
            <a:ext cx="210312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500" b="1">
                <a:solidFill>
                  <a:srgbClr val="E02424"/>
                </a:solidFill>
                <a:latin typeface="Calibri"/>
              </a:rPr>
              <a:t>d2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8503920" y="3246120"/>
            <a:ext cx="640080" cy="13716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017520" y="2697480"/>
            <a:ext cx="640080" cy="91440"/>
          </a:xfrm>
          <a:prstGeom prst="line">
            <a:avLst/>
          </a:prstGeom>
          <a:ln w="25400">
            <a:solidFill>
              <a:srgbClr val="7C3AE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28800" y="4892040"/>
            <a:ext cx="8686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1">
                <a:solidFill>
                  <a:srgbClr val="3F51B5"/>
                </a:solidFill>
                <a:latin typeface="Calibri"/>
              </a:rPr>
              <a:t>Two bounces: wall 1 (d1) → reflect → wall 2 (d2) → receiver,  total extra path ≈ d1 + d2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Calibri"/>
              </a:rPr>
              <a:t>Quantifying the extra path: reflection geometry ΔL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4937760" cy="914400"/>
          </a:xfrm>
          <a:prstGeom prst="roundRect">
            <a:avLst/>
          </a:prstGeom>
          <a:solidFill>
            <a:srgbClr val="F8F9FF"/>
          </a:solidFill>
          <a:ln w="1905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1A237E"/>
                </a:solidFill>
                <a:latin typeface="Calibri"/>
              </a:rPr>
              <a:t>ΔL = 2 · d · cos 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280160"/>
            <a:ext cx="5669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63238"/>
                </a:solidFill>
                <a:latin typeface="Calibri"/>
              </a:rPr>
              <a:t>•  d = distance to the wall, θ = incidence angle (from the normal)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63238"/>
                </a:solidFill>
                <a:latin typeface="Calibri"/>
              </a:rPr>
              <a:t>•  ΔL = how much further the signal travels than a straight 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2555748" cy="86868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3F51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3F51B5"/>
                </a:solidFill>
                <a:latin typeface="Calibri"/>
              </a:rPr>
              <a:t>2,753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NLOS modelled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4428" y="2514600"/>
            <a:ext cx="2555748" cy="86868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F59E0B"/>
                </a:solidFill>
                <a:latin typeface="Calibri"/>
              </a:rPr>
              <a:t>6.70 m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mean ΔL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514600"/>
            <a:ext cx="2555748" cy="86868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0E9F6E"/>
                </a:solidFill>
                <a:latin typeface="Calibri"/>
              </a:rPr>
              <a:t>6.45 m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median ΔL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93124" y="2514600"/>
            <a:ext cx="2555748" cy="868680"/>
          </a:xfrm>
          <a:prstGeom prst="roundRect">
            <a:avLst/>
          </a:prstGeom>
          <a:solidFill>
            <a:srgbClr val="F3F4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2200" b="1">
                <a:solidFill>
                  <a:srgbClr val="7C3AED"/>
                </a:solidFill>
                <a:latin typeface="Calibri"/>
              </a:rPr>
              <a:t>54.6°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Calibri"/>
              </a:rPr>
              <a:t>mean incidence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1097280" y="3657600"/>
          <a:ext cx="640080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80960" y="3840480"/>
            <a:ext cx="3931920" cy="2286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Multipath severity:
most NLOS are “strong”
(glass facades), ~6.7 m on average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Calibri"/>
              </a:rPr>
              <a:t>What it is for: give ΔL back to positioning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 /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3238"/>
                </a:solidFill>
                <a:latin typeface="Calibri"/>
              </a:rPr>
              <a:t>•  Subtract ΔL from the NLOS pseudorange to correct multipath; unreliable ones can be down-weighted or removed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0">
                <a:solidFill>
                  <a:srgbClr val="263238"/>
                </a:solidFill>
                <a:latin typeface="Calibri"/>
              </a:rPr>
              <a:t>•  Three positioning modes compared (mean horizontal error):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097280" y="2743200"/>
          <a:ext cx="65836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55279" y="2834640"/>
            <a:ext cx="3657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63238"/>
                </a:solidFill>
                <a:latin typeface="Calibri"/>
              </a:rPr>
              <a:t>•  Removing all NLOS starves geometry — worse (99 m)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63238"/>
                </a:solidFill>
                <a:latin typeface="Calibri"/>
              </a:rPr>
              <a:t>•  Correction is 39.97 m, not yet beating baseline 26.45 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63238"/>
                </a:solidFill>
                <a:latin typeface="Calibri"/>
              </a:rPr>
              <a:t>•  Why? See next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292608" cy="502920"/>
          </a:xfrm>
          <a:prstGeom prst="round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10424160" cy="6400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2700" b="1">
                <a:solidFill>
                  <a:srgbClr val="1A237E"/>
                </a:solidFill>
                <a:latin typeface="Calibri"/>
              </a:rPr>
              <a:t>Current limits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115568"/>
            <a:ext cx="11183112" cy="0"/>
          </a:xfrm>
          <a:prstGeom prst="line">
            <a:avLst/>
          </a:prstGeom>
          <a:ln w="19050">
            <a:solidFill>
              <a:srgbClr val="DDDF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0424160" y="6355080"/>
            <a:ext cx="12801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 /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4924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0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E02424"/>
                </a:solidFill>
                <a:latin typeface="Calibri"/>
              </a:rP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Calibri"/>
              </a:rPr>
              <a:t>•  Only 42% of NLOS modelled (3,825 skipped due to timestamp mismatch)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Calibri"/>
              </a:rPr>
              <a:t>•  41% of surfaces are corners/curved — unreliable normals, ΔL off by 5–15 m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Calibri"/>
              </a:rPr>
              <a:t>•  Correction is applied bluntly, with no confidence weighting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34924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0E9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937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800" b="1">
                <a:solidFill>
                  <a:srgbClr val="0E9F6E"/>
                </a:solidFill>
                <a:latin typeface="Calibri"/>
              </a:rP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93776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Calibri"/>
              </a:rPr>
              <a:t>•  Fix timestamp/leap-second alignment → coverage 42% → &gt;85%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Calibri"/>
              </a:rPr>
              <a:t>•  Confidence-weighted “soft” correction (trust flat surfaces more)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Calibri"/>
              </a:rPr>
              <a:t>•  Add fault detection (FDE / RAIM) to drop missed large-error satellites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00" b="0">
                <a:solidFill>
                  <a:srgbClr val="263238"/>
                </a:solidFill>
                <a:latin typeface="Calibri"/>
              </a:rPr>
              <a:t>•  Goal: push correction RMS below 20–25 m to truly beat baseline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One-slide 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08760"/>
            <a:ext cx="10515600" cy="0"/>
          </a:xfrm>
          <a:prstGeom prst="line">
            <a:avLst/>
          </a:prstGeom>
          <a:ln w="19050">
            <a:solidFill>
              <a:srgbClr val="5C6B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1828800"/>
            <a:ext cx="1042416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End-to-end ray-tracing pipeline: LiDAR map → sat directions → LOS/NLOS → reflection ΔL → positioning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Quantified the urban-canyon NLOS rate: 59.5% (6,578 of 11,050)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Geometrically modelled multipath: mean ΔL 6.7 m, explainable, 14,773 rays/s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Multi-constellation baseline reaches 26.45 m — already good for an urban canyon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•  Next: make the correction a net win (coverage + confidence weighting + FDE)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